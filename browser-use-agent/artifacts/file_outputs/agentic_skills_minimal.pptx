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200" b="1">
                <a:solidFill>
                  <a:srgbClr val="000000"/>
                </a:solidFill>
                <a:latin typeface="Calibri"/>
              </a:rPr>
              <a:t>Agentic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Calibri"/>
              </a:rPr>
              <a:t>Capabilities for autonomous, reliable AI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Calibri"/>
              </a:rPr>
              <a:t>Goal decomposition and planning</a:t>
            </a:r>
          </a:p>
          <a:p>
            <a:pPr algn="l"/>
            <a:r>
              <a:rPr sz="2000" b="0">
                <a:solidFill>
                  <a:srgbClr val="000000"/>
                </a:solidFill>
                <a:latin typeface="Calibri"/>
              </a:rPr>
              <a:t>Tool use and orchestration</a:t>
            </a:r>
          </a:p>
          <a:p>
            <a:pPr algn="l"/>
            <a:r>
              <a:rPr sz="2000" b="0">
                <a:solidFill>
                  <a:srgbClr val="000000"/>
                </a:solidFill>
                <a:latin typeface="Calibri"/>
              </a:rPr>
              <a:t>Memory and context management</a:t>
            </a:r>
          </a:p>
          <a:p>
            <a:pPr algn="l"/>
            <a:r>
              <a:rPr sz="2000" b="0">
                <a:solidFill>
                  <a:srgbClr val="000000"/>
                </a:solidFill>
                <a:latin typeface="Calibri"/>
              </a:rPr>
              <a:t>Self-monitoring and reflection</a:t>
            </a:r>
          </a:p>
          <a:p>
            <a:pPr algn="l"/>
            <a:r>
              <a:rPr sz="2000" b="0">
                <a:solidFill>
                  <a:srgbClr val="000000"/>
                </a:solidFill>
                <a:latin typeface="Calibri"/>
              </a:rPr>
              <a:t>Error recovery and fallback strategies</a:t>
            </a:r>
          </a:p>
          <a:p>
            <a:pPr algn="l"/>
            <a:r>
              <a:rPr sz="2000" b="0">
                <a:solidFill>
                  <a:srgbClr val="000000"/>
                </a:solidFill>
                <a:latin typeface="Calibri"/>
              </a:rPr>
              <a:t>Human-in-the-loop coordination and safety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2011680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Calibri"/>
              </a:rPr>
              <a:t>Plan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4114800"/>
            <a:ext cx="2011680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Calibri"/>
              </a:rPr>
              <a:t>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4114800"/>
            <a:ext cx="2011680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Calibri"/>
              </a:rPr>
              <a:t>Reflect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4114800"/>
            <a:ext cx="2011680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Calibri"/>
              </a:rPr>
              <a:t>Memory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0" y="4526280.0"/>
            <a:ext cx="457200" cy="0.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212080" y="4526280.0"/>
            <a:ext cx="457200" cy="0.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80960" y="4526280.0"/>
            <a:ext cx="457200" cy="0.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